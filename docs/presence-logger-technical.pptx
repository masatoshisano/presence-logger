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10362895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99713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1E40AF"/>
                </a:solidFill>
                <a:latin typeface="Meiryo"/>
              </a:rPr>
              <a:t>Presence Logger 技術解説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99713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Meiryo"/>
              </a:rPr>
              <a:t>在/不在検知をオラクルDBに Exactly-once で記録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999713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DBEAFE"/>
                </a:solidFill>
                <a:latin typeface="Meiryo"/>
              </a:rPr>
              <a:t>Raspberry Pi 5 + USB Camera + Oracle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1. アーキテクチャ全体図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3コンテナ構成 + Oracle 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645920" cy="10972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6459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📷</a:t>
            </a:r>
            <a:br/>
            <a:r>
              <a:rPr sz="1400" b="1">
                <a:solidFill>
                  <a:srgbClr val="FFFFFF"/>
                </a:solidFill>
                <a:latin typeface="Meiryo"/>
              </a:rPr>
              <a:t>USB カメラ</a:t>
            </a:r>
            <a:br/>
            <a:r>
              <a:rPr sz="1400" b="1">
                <a:solidFill>
                  <a:srgbClr val="FFFFFF"/>
                </a:solidFill>
                <a:latin typeface="Meiryo"/>
              </a:rPr>
              <a:t>/dev/video0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371600"/>
            <a:ext cx="2194560" cy="10972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37160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🤖 detector</a:t>
            </a:r>
            <a:br/>
            <a:r>
              <a:rPr sz="1300" b="1">
                <a:solidFill>
                  <a:srgbClr val="FFFFFF"/>
                </a:solidFill>
                <a:latin typeface="Meiryo"/>
              </a:rPr>
              <a:t>MediaPipe 推論</a:t>
            </a:r>
            <a:br/>
            <a:r>
              <a:rPr sz="1300" b="1">
                <a:solidFill>
                  <a:srgbClr val="FFFFFF"/>
                </a:solidFill>
                <a:latin typeface="Meiryo"/>
              </a:rPr>
              <a:t>+ FSM (3秒デバウンス)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1828800" cy="10972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371600"/>
            <a:ext cx="1828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📨 mosquitto</a:t>
            </a:r>
            <a:br/>
            <a:r>
              <a:rPr sz="1300" b="1">
                <a:solidFill>
                  <a:srgbClr val="FFFFFF"/>
                </a:solidFill>
                <a:latin typeface="Meiryo"/>
              </a:rPr>
              <a:t>MQTT broker</a:t>
            </a:r>
            <a:br/>
            <a:r>
              <a:rPr sz="1300" b="1">
                <a:solidFill>
                  <a:srgbClr val="FFFFFF"/>
                </a:solidFill>
                <a:latin typeface="Meiryo"/>
              </a:rPr>
              <a:t>(QoS=2)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371600"/>
            <a:ext cx="237744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371600"/>
            <a:ext cx="23774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🌉 bridge</a:t>
            </a:r>
            <a:br/>
            <a:r>
              <a:rPr sz="1300" b="1">
                <a:solidFill>
                  <a:srgbClr val="FFFFFF"/>
                </a:solidFill>
                <a:latin typeface="Meiryo"/>
              </a:rPr>
              <a:t>MQTT 受信 → inbox</a:t>
            </a:r>
            <a:br/>
            <a:r>
              <a:rPr sz="1300" b="1">
                <a:solidFill>
                  <a:srgbClr val="FFFFFF"/>
                </a:solidFill>
                <a:latin typeface="Meiryo"/>
              </a:rPr>
              <a:t>→ Oracle MERGE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371600"/>
            <a:ext cx="1645920" cy="10972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1371600"/>
            <a:ext cx="16459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🗄️</a:t>
            </a:r>
            <a:br/>
            <a:r>
              <a:rPr sz="1400" b="1">
                <a:solidFill>
                  <a:srgbClr val="FFFFFF"/>
                </a:solidFill>
                <a:latin typeface="Meiryo"/>
              </a:rPr>
              <a:t>Oracle DB</a:t>
            </a:r>
            <a:br/>
            <a:r>
              <a:rPr sz="1400" b="1">
                <a:solidFill>
                  <a:srgbClr val="FFFFFF"/>
                </a:solidFill>
                <a:latin typeface="Meiryo"/>
              </a:rPr>
              <a:t>HF1RCM01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1920240"/>
            <a:ext cx="365760" cy="0"/>
          </a:xfrm>
          <a:prstGeom prst="line">
            <a:avLst/>
          </a:prstGeom>
          <a:ln w="381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54880" y="1920240"/>
            <a:ext cx="365760" cy="0"/>
          </a:xfrm>
          <a:prstGeom prst="line">
            <a:avLst/>
          </a:prstGeom>
          <a:ln w="381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9440" y="1920240"/>
            <a:ext cx="365760" cy="0"/>
          </a:xfrm>
          <a:prstGeom prst="line">
            <a:avLst/>
          </a:prstGeom>
          <a:ln w="381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92640" y="1920240"/>
            <a:ext cx="365760" cy="0"/>
          </a:xfrm>
          <a:prstGeom prst="line">
            <a:avLst/>
          </a:prstGeom>
          <a:ln w="381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2926080"/>
            <a:ext cx="3657600" cy="4114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2608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🤖 detector の役割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337560"/>
            <a:ext cx="3657600" cy="14173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34747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・USB カメラから 1.5fps で画像取得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・MediaPipe (EfficientDet) で人検知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・3秒デバウンスで ENTER/EXIT 確定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・MQTT QoS=2 で publish、ACK で送信完了確定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・未 ACK は SQLite で永続化 → 再起動後も保持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2926080"/>
            <a:ext cx="3657600" cy="4114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92608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📨 mosquitto の役割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337560"/>
            <a:ext cx="3657600" cy="14173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383280"/>
            <a:ext cx="34747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・ローカル MQTT broker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・QoS=2 で「ちょうど1回配信」保証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・detector → bridge のメッセージ中継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・bridge → detector の ACK 中継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・ホストにポート公開なし(内部ネットのみ)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926080"/>
            <a:ext cx="347472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92608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🌉 bridge の役割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337560"/>
            <a:ext cx="3474720" cy="14173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383280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・MQTT 受信 → SQLite inbox に永続化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・WiFi SSID → プロファイル解決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・Oracle MERGE (冪等 INSERT)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・成功時に ACK を返す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・サーキットブレーカ + リトライ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37760"/>
            <a:ext cx="11155680" cy="41148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37760"/>
            <a:ext cx="11155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🔄 WiFi SSID で接続先を自動切替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349240"/>
            <a:ext cx="1115568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394960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現在の SSID が profiles.yaml のキーと一致 → そのプロファイルで Oracle 接続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例: WiFi=GallaxyS23FE → Cloud ADB / WiFi=taden-ot-ap → オンプレ HHS001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未知 SSID → unknown_ssid_policy='hold' で inbox に保留(後で flush)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2. データフロー詳細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検知 → MQTT → Oracle までの 1 イベントの一生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55448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① カメラ撮影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15544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1554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Meiryo"/>
              </a:rPr>
              <a:t>1.5fps で画像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→ MediaPipe 推論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2" y="1280160"/>
            <a:ext cx="155448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3392" y="128016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② FSM 判定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3392" y="1737360"/>
            <a:ext cx="15544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3392" y="1737360"/>
            <a:ext cx="1554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Meiryo"/>
              </a:rPr>
              <a:t>person スコア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3秒継続 → ENTER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離脱 3秒 → EXIT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1024" y="1280160"/>
            <a:ext cx="155448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128016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③ MQTT publish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21024" y="1737360"/>
            <a:ext cx="15544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737360"/>
            <a:ext cx="1554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Meiryo"/>
              </a:rPr>
              <a:t>QoS=2、UUID,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monotonic_ns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payload を送信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48656" y="1280160"/>
            <a:ext cx="155448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128016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④ bridge 受信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48656" y="1737360"/>
            <a:ext cx="15544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48656" y="1737360"/>
            <a:ext cx="1554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Meiryo"/>
              </a:rPr>
              <a:t>SQLite inbox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(buffer DB)に保存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status=received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1280160"/>
            <a:ext cx="155448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128016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⑤ SSID 解決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76288" y="1737360"/>
            <a:ext cx="15544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1737360"/>
            <a:ext cx="1554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Meiryo"/>
              </a:rPr>
              <a:t>nmcli で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現在 SSID 取得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→ profile 検索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1280160"/>
            <a:ext cx="1554480" cy="4572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128016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⑥ Oracle MERGE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1737360"/>
            <a:ext cx="15544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1737360"/>
            <a:ext cx="1554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Meiryo"/>
              </a:rPr>
              <a:t>wallet/basic で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接続 → MERGE INTO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冪等 INSERT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31552" y="1280160"/>
            <a:ext cx="1554480" cy="45720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31552" y="128016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⑦ ACK 返信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31552" y="1737360"/>
            <a:ext cx="15544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31552" y="1737360"/>
            <a:ext cx="1554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Meiryo"/>
              </a:rPr>
              <a:t>MQTT で ACK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を detector へ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status=sent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657600"/>
            <a:ext cx="1143000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65760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⏱️ 実測タイミング例(平均 300-700ms で全工程完了)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069080"/>
            <a:ext cx="11430000" cy="9601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1480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15:53:00.011 publish  →  15:53:00.035 received (24ms)  →  15:53:00.319 merge_committed (284ms)  →  15:53:00.342 ack_received (23ms)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= 検知から Oracle 書き込みまで合計 331ms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212080"/>
            <a:ext cx="1143000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21208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💡 重要ポイント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5623560"/>
            <a:ext cx="11430000" cy="7772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・mk_date(発生時刻) は detector で確定 → ネット遅延・DB 障害があっても発生時刻は正確に記録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・event_id (UUIDv4) で同じイベントを全ステップで追跡可能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・QoS=2 + Oracle MERGE で重複登録を完全防止(Exactly-once)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3. ENTER/EXIT 検知の仕組み (FSM)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3秒デバウンスで誤検知を防ぐ有限状態機械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200400" cy="100584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00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ABSENT</a:t>
            </a:r>
            <a:br/>
            <a:r>
              <a:rPr sz="1800" b="1">
                <a:solidFill>
                  <a:srgbClr val="FFFFFF"/>
                </a:solidFill>
                <a:latin typeface="Meiryo"/>
              </a:rPr>
              <a:t>誰もいない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554480"/>
            <a:ext cx="3200400" cy="10058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554480"/>
            <a:ext cx="3200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CANDIDATE</a:t>
            </a:r>
            <a:br/>
            <a:r>
              <a:rPr sz="1800" b="1">
                <a:solidFill>
                  <a:srgbClr val="FFFFFF"/>
                </a:solidFill>
                <a:latin typeface="Meiryo"/>
              </a:rPr>
              <a:t>判定中</a:t>
            </a:r>
            <a:br/>
            <a:r>
              <a:rPr sz="1800" b="1">
                <a:solidFill>
                  <a:srgbClr val="FFFFFF"/>
                </a:solidFill>
                <a:latin typeface="Meiryo"/>
              </a:rPr>
              <a:t>(&lt; 3秒)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554480"/>
            <a:ext cx="32004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554480"/>
            <a:ext cx="3200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PRESENT</a:t>
            </a:r>
            <a:br/>
            <a:r>
              <a:rPr sz="1800" b="1">
                <a:solidFill>
                  <a:srgbClr val="FFFFFF"/>
                </a:solidFill>
                <a:latin typeface="Meiryo"/>
              </a:rPr>
              <a:t>在席中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2057400"/>
            <a:ext cx="365761" cy="0"/>
          </a:xfrm>
          <a:prstGeom prst="line">
            <a:avLst/>
          </a:prstGeom>
          <a:ln w="508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2057400"/>
            <a:ext cx="457200" cy="0"/>
          </a:xfrm>
          <a:prstGeom prst="line">
            <a:avLst/>
          </a:prstGeom>
          <a:ln w="508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315200" y="2468880"/>
            <a:ext cx="457200" cy="0"/>
          </a:xfrm>
          <a:prstGeom prst="line">
            <a:avLst/>
          </a:prstGeom>
          <a:ln w="5080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749039" y="2468880"/>
            <a:ext cx="365761" cy="0"/>
          </a:xfrm>
          <a:prstGeom prst="line">
            <a:avLst/>
          </a:prstGeom>
          <a:ln w="5080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03320" y="26517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eiryo"/>
              </a:rPr>
              <a:t>人検出</a:t>
            </a:r>
            <a:br/>
            <a:r>
              <a:rPr sz="1100" b="1">
                <a:solidFill>
                  <a:srgbClr val="2563EB"/>
                </a:solidFill>
                <a:latin typeface="Meiryo"/>
              </a:rPr>
              <a:t>開始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517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eiryo"/>
              </a:rPr>
              <a:t>3秒継続</a:t>
            </a:r>
            <a:br/>
            <a:r>
              <a:rPr sz="1100" b="1">
                <a:solidFill>
                  <a:srgbClr val="2563EB"/>
                </a:solidFill>
                <a:latin typeface="Meiryo"/>
              </a:rPr>
              <a:t>ENTER!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0175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  <a:latin typeface="Meiryo"/>
              </a:rPr>
              <a:t>離脱</a:t>
            </a:r>
            <a:br/>
            <a:r>
              <a:rPr sz="1100" b="1">
                <a:solidFill>
                  <a:srgbClr val="EF4444"/>
                </a:solidFill>
                <a:latin typeface="Meiryo"/>
              </a:rPr>
              <a:t>検出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0175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  <a:latin typeface="Meiryo"/>
              </a:rPr>
              <a:t>3秒継続</a:t>
            </a:r>
            <a:br/>
            <a:r>
              <a:rPr sz="1100" b="1">
                <a:solidFill>
                  <a:srgbClr val="EF4444"/>
                </a:solidFill>
                <a:latin typeface="Meiryo"/>
              </a:rPr>
              <a:t>EXIT!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57600"/>
            <a:ext cx="548640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657600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🤔 なぜ 3 秒デバウンス?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069080"/>
            <a:ext cx="5486400" cy="2331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530352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・カメラ前を一瞬通る人は「在席」とみなさない(誤検知防止)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・MediaPipe の単発スコアは不安定(ブレあり)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・3秒間連続で同じ判定 = 「確定」と認める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・3秒未満で判定が翻る → candidate_cancel</a:t>
            </a:r>
            <a:br/>
            <a:br/>
            <a:r>
              <a:rPr sz="1200" b="0">
                <a:solidFill>
                  <a:srgbClr val="111827"/>
                </a:solidFill>
                <a:latin typeface="Meiryo"/>
              </a:rPr>
              <a:t>デバウンス時間は detector.yaml の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 enter_debounce_ms: 3000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 exit_debounce_ms: 3000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で調整可能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657600"/>
            <a:ext cx="5486400" cy="4114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657600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📝 イベント生成タイミング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69080"/>
            <a:ext cx="5486400" cy="2331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114800"/>
            <a:ext cx="530352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transition イベント = ENTER または EXIT が確定した瞬間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candidate_start = 3秒タイマーが開始した瞬間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candidate_cancel = 3秒未満で取り消された瞬間</a:t>
            </a:r>
            <a:br/>
            <a:br/>
            <a:r>
              <a:rPr sz="1200" b="0">
                <a:solidFill>
                  <a:srgbClr val="111827"/>
                </a:solidFill>
                <a:latin typeface="Meiryo"/>
              </a:rPr>
              <a:t>Oracle に書き込まれるのは transition のみ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 T1_STATUS=1 → ENTER (入室)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 T1_STATUS=2 → EXIT (退室)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4. Exactly-once 配信の仕組み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電源断・ネット切断・DB停止でも確実に1回だけ記録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657600" cy="4114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🛡️ 1. detector 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3657600" cy="4617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474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eiryo"/>
              </a:rPr>
              <a:t>✓ MediaPipe で検知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✓ UUID + monotonic_ns 付与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✓ SQLite buffer に永続化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  /var/lib/.../detector_buf.db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✓ MQTT QoS=2 で publish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✓ ACK 受信まで再送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  (5s → 15s → 45s ...指数バックオフ)</a:t>
            </a:r>
            <a:br/>
            <a:r>
              <a:rPr sz="1300" b="0">
                <a:solidFill>
                  <a:srgbClr val="111827"/>
                </a:solidFill>
                <a:latin typeface="Meiryo"/>
              </a:rPr>
              <a:t>✓ 電源断後の再起動でも buffer から再送</a:t>
            </a:r>
            <a:br/>
            <a:br/>
            <a:r>
              <a:rPr sz="1300" b="0">
                <a:solidFill>
                  <a:srgbClr val="111827"/>
                </a:solidFill>
                <a:latin typeface="Meiryo"/>
              </a:rPr>
              <a:t>→ 配信失敗で消えない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80160"/>
            <a:ext cx="365760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28016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🛡️ 2. bridge 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91640"/>
            <a:ext cx="3657600" cy="4617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37360"/>
            <a:ext cx="3474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✓ MQTT 受信 → SQLite inbox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 /var/lib/.../bridge_buf.db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✓ MERGE INTO で冪等 INSERT</a:t>
            </a:r>
            <a:br/>
            <a:br/>
            <a:r>
              <a:rPr sz="1200" b="0">
                <a:solidFill>
                  <a:srgbClr val="111827"/>
                </a:solidFill>
                <a:latin typeface="Meiryo"/>
              </a:rPr>
              <a:t>MERGE INTO HF1RCM01 t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USING (SELECT :1 AS MK_DATE, ...)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ON (一致条件)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WHEN NOT MATCHED THEN INSERT</a:t>
            </a:r>
            <a:br/>
            <a:br/>
            <a:r>
              <a:rPr sz="1200" b="0">
                <a:solidFill>
                  <a:srgbClr val="111827"/>
                </a:solidFill>
                <a:latin typeface="Meiryo"/>
              </a:rPr>
              <a:t>→ 同じデータを何度実行しても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 Oracle 内で1行のみ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→ 重複送信で2行できない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657600" cy="4114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28016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🛡️ 3. 障害シナリオ別動作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657600" cy="4617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4747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■ ネット切断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→ inbox 蓄積 → 復旧後 flush</a:t>
            </a:r>
            <a:br/>
            <a:br/>
            <a:r>
              <a:rPr sz="1200" b="0">
                <a:solidFill>
                  <a:srgbClr val="111827"/>
                </a:solidFill>
                <a:latin typeface="Meiryo"/>
              </a:rPr>
              <a:t>■ Oracle 停止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→ retry (指数バックオフ)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→ 恒久エラーなら circuit OPEN</a:t>
            </a:r>
            <a:br/>
            <a:br/>
            <a:r>
              <a:rPr sz="1200" b="0">
                <a:solidFill>
                  <a:srgbClr val="111827"/>
                </a:solidFill>
                <a:latin typeface="Meiryo"/>
              </a:rPr>
              <a:t>■ 電源断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→ SQLite で全状態永続化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→ 再起動後に同じ状態から継続</a:t>
            </a:r>
            <a:br/>
            <a:br/>
            <a:r>
              <a:rPr sz="1200" b="0">
                <a:solidFill>
                  <a:srgbClr val="111827"/>
                </a:solidFill>
                <a:latin typeface="Meiryo"/>
              </a:rPr>
              <a:t>■ 重複検出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→ MERGE で 0 行 (skip)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→ ACK は返るが行は増えない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5. ログの構造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JSON Lines (1行=1イベント、jq でフィルタ可)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5943600" cy="512064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latin typeface="Consolas"/>
              </a:defRPr>
            </a:pPr>
            <a:r>
              <a:rPr sz="1200" b="0">
                <a:solidFill>
                  <a:srgbClr val="D1FAE5"/>
                </a:solidFill>
                <a:latin typeface="Meiryo"/>
              </a:rPr>
              <a:t>{"ts":"2026-05-18T15:53:00.319+09:00",</a:t>
            </a:r>
            <a:br/>
            <a:r>
              <a:rPr sz="1200" b="0">
                <a:solidFill>
                  <a:srgbClr val="D1FAE5"/>
                </a:solidFill>
                <a:latin typeface="Meiryo"/>
              </a:rPr>
              <a:t> "level":"INFO",</a:t>
            </a:r>
            <a:br/>
            <a:r>
              <a:rPr sz="1200" b="0">
                <a:solidFill>
                  <a:srgbClr val="D1FAE5"/>
                </a:solidFill>
                <a:latin typeface="Meiryo"/>
              </a:rPr>
              <a:t> "logger":"bridge.sender",</a:t>
            </a:r>
            <a:br/>
            <a:r>
              <a:rPr sz="1200" b="0">
                <a:solidFill>
                  <a:srgbClr val="D1FAE5"/>
                </a:solidFill>
                <a:latin typeface="Meiryo"/>
              </a:rPr>
              <a:t> "process":"bridge",</a:t>
            </a:r>
            <a:br/>
            <a:r>
              <a:rPr sz="1200" b="0">
                <a:solidFill>
                  <a:srgbClr val="D1FAE5"/>
                </a:solidFill>
                <a:latin typeface="Meiryo"/>
              </a:rPr>
              <a:t> "pid":1,</a:t>
            </a:r>
            <a:br/>
            <a:r>
              <a:rPr sz="1200" b="0">
                <a:solidFill>
                  <a:srgbClr val="D1FAE5"/>
                </a:solidFill>
                <a:latin typeface="Meiryo"/>
              </a:rPr>
              <a:t> "device_id":"RaspberryPi5",</a:t>
            </a:r>
            <a:br/>
            <a:r>
              <a:rPr sz="1200" b="0">
                <a:solidFill>
                  <a:srgbClr val="D1FAE5"/>
                </a:solidFill>
                <a:latin typeface="Meiryo"/>
              </a:rPr>
              <a:t> "event":"merge_committed",</a:t>
            </a:r>
            <a:br/>
            <a:r>
              <a:rPr sz="1200" b="0">
                <a:solidFill>
                  <a:srgbClr val="D1FAE5"/>
                </a:solidFill>
                <a:latin typeface="Meiryo"/>
              </a:rPr>
              <a:t> "event_id":"9c634f67-eaf8-...",</a:t>
            </a:r>
            <a:br/>
            <a:r>
              <a:rPr sz="1200" b="0">
                <a:solidFill>
                  <a:srgbClr val="D1FAE5"/>
                </a:solidFill>
                <a:latin typeface="Meiryo"/>
              </a:rPr>
              <a:t> "mk_date":"20260518155300",</a:t>
            </a:r>
            <a:br/>
            <a:r>
              <a:rPr sz="1200" b="0">
                <a:solidFill>
                  <a:srgbClr val="D1FAE5"/>
                </a:solidFill>
                <a:latin typeface="Meiryo"/>
              </a:rPr>
              <a:t> "rows_affected":1,</a:t>
            </a:r>
            <a:br/>
            <a:r>
              <a:rPr sz="1200" b="0">
                <a:solidFill>
                  <a:srgbClr val="D1FAE5"/>
                </a:solidFill>
                <a:latin typeface="Meiryo"/>
              </a:rPr>
              <a:t> "profile":"taden-ot-ap",</a:t>
            </a:r>
            <a:br/>
            <a:r>
              <a:rPr sz="1200" b="0">
                <a:solidFill>
                  <a:srgbClr val="D1FAE5"/>
                </a:solidFill>
                <a:latin typeface="Meiryo"/>
              </a:rPr>
              <a:t> "latency_ms":284}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280160"/>
            <a:ext cx="5120640" cy="3657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🔑 主要フィールド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737360"/>
            <a:ext cx="1554480" cy="4114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eiryo"/>
              </a:rPr>
              <a:t>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5661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JST ミリ秒 + TZ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194560"/>
            <a:ext cx="1554480" cy="4114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eiryo"/>
              </a:rPr>
              <a:t>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94560"/>
            <a:ext cx="35661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INFO/WARN/ERROR/CRITICAL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651760"/>
            <a:ext cx="1554480" cy="4114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65176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eiryo"/>
              </a:rPr>
              <a:t>logger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651760"/>
            <a:ext cx="35661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ドット区切り階層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108960"/>
            <a:ext cx="1554480" cy="4114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10896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eiryo"/>
              </a:rPr>
              <a:t>event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108960"/>
            <a:ext cx="35661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10896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イベント種別(下記)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3566160"/>
            <a:ext cx="1554480" cy="4114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56616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eiryo"/>
              </a:rPr>
              <a:t>event_id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566160"/>
            <a:ext cx="35661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56616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UUIDv4 (検知単位の追跡)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4023360"/>
            <a:ext cx="1554480" cy="4114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02336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eiryo"/>
              </a:rPr>
              <a:t>mk_date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023360"/>
            <a:ext cx="35661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02336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YYYYMMDDhhmmss (検知時刻)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4480560"/>
            <a:ext cx="1554480" cy="4114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48056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eiryo"/>
              </a:rPr>
              <a:t>rows_affected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480560"/>
            <a:ext cx="35661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48056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MERGE 結果 (1=新規、0=冪等skip)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937760"/>
            <a:ext cx="1554480" cy="4114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93776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eiryo"/>
              </a:rPr>
              <a:t>profile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4937760"/>
            <a:ext cx="35661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493776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使用したプロファイル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394960"/>
            <a:ext cx="1554480" cy="4114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39496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eiryo"/>
              </a:rPr>
              <a:t>latency_ms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5394960"/>
            <a:ext cx="356616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539496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MERGE 所要時間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6. イベント種別カタログ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logger 別 / event 別の意味とトリアージ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560320" cy="36576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logger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188720"/>
            <a:ext cx="2377440" cy="36576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188720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event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188720"/>
            <a:ext cx="6400800" cy="36576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188720"/>
            <a:ext cx="6400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意味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600200"/>
            <a:ext cx="25603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1600200"/>
            <a:ext cx="237744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0" y="1600200"/>
            <a:ext cx="640080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600200"/>
            <a:ext cx="109728" cy="320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60020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detector.fsm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0020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eiryo"/>
              </a:rPr>
              <a:t>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60020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ENTER/EXIT 確定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1920240"/>
            <a:ext cx="25603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26080" y="1920240"/>
            <a:ext cx="237744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03520" y="1920240"/>
            <a:ext cx="64008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1920240"/>
            <a:ext cx="109728" cy="320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19202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detector.fsm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192024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eiryo"/>
              </a:rPr>
              <a:t>candidate_start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192024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3秒タイマー開始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240280"/>
            <a:ext cx="25603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26080" y="2240280"/>
            <a:ext cx="237744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03520" y="2240280"/>
            <a:ext cx="640080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240280"/>
            <a:ext cx="109728" cy="320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24028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detector.fsm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224028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eiryo"/>
              </a:rPr>
              <a:t>candidate_cancel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224028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3秒未満で取消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2560320"/>
            <a:ext cx="25603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926080" y="2560320"/>
            <a:ext cx="237744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303520" y="2560320"/>
            <a:ext cx="64008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2560320"/>
            <a:ext cx="109728" cy="320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56032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detector.mqtt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256032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Meiryo"/>
              </a:rPr>
              <a:t>publish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256032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MQTT 送信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2880360"/>
            <a:ext cx="25603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926080" y="2880360"/>
            <a:ext cx="237744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303520" y="2880360"/>
            <a:ext cx="640080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2880360"/>
            <a:ext cx="109728" cy="320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288036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detector.mqtt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288036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Meiryo"/>
              </a:rPr>
              <a:t>ack_received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288036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ACK 到達、確定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3200400"/>
            <a:ext cx="25603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926080" y="3200400"/>
            <a:ext cx="237744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303520" y="3200400"/>
            <a:ext cx="64008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3200400"/>
            <a:ext cx="109728" cy="320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20040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detector.mqtt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0" y="320040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"/>
              </a:rPr>
              <a:t>ack_timeout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4960" y="320040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ACK 待ち再送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3520440"/>
            <a:ext cx="25603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926080" y="3520440"/>
            <a:ext cx="237744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303520" y="3520440"/>
            <a:ext cx="640080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" y="3520440"/>
            <a:ext cx="109728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35204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bridge.main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17520" y="352044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eiryo"/>
              </a:rPr>
              <a:t>received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0" y="352044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MQTT 受信完了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5760" y="3840480"/>
            <a:ext cx="25603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926080" y="3840480"/>
            <a:ext cx="237744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303520" y="3840480"/>
            <a:ext cx="64008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5760" y="3840480"/>
            <a:ext cx="109728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384048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bridge.sender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17520" y="384048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eiryo"/>
              </a:rPr>
              <a:t>merge_committed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94960" y="384048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★ Oracle 書込成功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5760" y="4160520"/>
            <a:ext cx="25603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926080" y="4160520"/>
            <a:ext cx="237744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303520" y="4160520"/>
            <a:ext cx="640080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5760" y="4160520"/>
            <a:ext cx="109728" cy="32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416052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bridge.sender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17520" y="416052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Meiryo"/>
              </a:rPr>
              <a:t>merge_failed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94960" y="416052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Oracle 書込失敗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65760" y="4480560"/>
            <a:ext cx="25603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2926080" y="4480560"/>
            <a:ext cx="237744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303520" y="4480560"/>
            <a:ext cx="64008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5760" y="4480560"/>
            <a:ext cx="109728" cy="3200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448056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bridge.profile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17520" y="448056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Meiryo"/>
              </a:rPr>
              <a:t>resolve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94960" y="448056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SSID → プロファイル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65760" y="4800600"/>
            <a:ext cx="25603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2926080" y="4800600"/>
            <a:ext cx="237744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303520" y="4800600"/>
            <a:ext cx="640080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65760" y="4800600"/>
            <a:ext cx="109728" cy="320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8640" y="480060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bridge.profile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17520" y="480060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eiryo"/>
              </a:rPr>
              <a:t>unknown_ssid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94960" y="480060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未知 SSID、保留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65760" y="5120640"/>
            <a:ext cx="25603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2926080" y="5120640"/>
            <a:ext cx="237744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303520" y="5120640"/>
            <a:ext cx="64008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65760" y="5120640"/>
            <a:ext cx="109728" cy="32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51206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bridge.oracle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17520" y="512064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Meiryo"/>
              </a:rPr>
              <a:t>circuit_open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94960" y="512064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★ 恒久エラー、停止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65760" y="5440680"/>
            <a:ext cx="25603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926080" y="5440680"/>
            <a:ext cx="237744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5303520" y="5440680"/>
            <a:ext cx="640080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65760" y="5440680"/>
            <a:ext cx="109728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48640" y="544068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bridge.oracle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017520" y="544068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eiryo"/>
              </a:rPr>
              <a:t>circuit_close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94960" y="544068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サーキット復旧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65760" y="5760720"/>
            <a:ext cx="256032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2926080" y="5760720"/>
            <a:ext cx="237744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5303520" y="5760720"/>
            <a:ext cx="64008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65760" y="5760720"/>
            <a:ext cx="109728" cy="3200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8640" y="576072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bridge.time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17520" y="576072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Meiryo"/>
              </a:rPr>
              <a:t>sync_acquired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94960" y="576072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NTP 同期完了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65760" y="6080760"/>
            <a:ext cx="256032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2926080" y="6080760"/>
            <a:ext cx="237744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5303520" y="6080760"/>
            <a:ext cx="6400800" cy="320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65760" y="6080760"/>
            <a:ext cx="109728" cy="3200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8640" y="608076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bridge.stats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017520" y="608076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Meiryo"/>
              </a:rPr>
              <a:t>periodic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394960" y="6080760"/>
            <a:ext cx="6309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60秒統計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eiryo"/>
              </a:rPr>
              <a:t>7. 障害復旧メカニズム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Meiryo"/>
              </a:rPr>
              <a:t>Retry (指数バックオフ) + Circuit Breaker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65760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🔄 リトライ (一時障害)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3657600" cy="2148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47472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ネット瞬断、Oracle 一時停止、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タイムアウト 等</a:t>
            </a:r>
            <a:br/>
            <a:br/>
            <a:r>
              <a:rPr sz="1200" b="0">
                <a:solidFill>
                  <a:srgbClr val="111827"/>
                </a:solidFill>
                <a:latin typeface="Meiryo"/>
              </a:rPr>
              <a:t>指数バックオフ: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 1回目: 5秒後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 2回目: 15秒後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 3回目: 45秒後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 4回目: 135秒後 ...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  最大: 600秒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657600" cy="4114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37160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⚡ サーキットブレーカ (恒久障害)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783080"/>
            <a:ext cx="3657600" cy="2148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828800"/>
            <a:ext cx="347472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テーブル無し ORA-942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ユーザ違い ORA-1017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権限なし ORA-1031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サービス未登録 ORA-12514 (=DPY-6001)</a:t>
            </a:r>
            <a:br/>
            <a:br/>
            <a:r>
              <a:rPr sz="1200" b="0">
                <a:solidFill>
                  <a:srgbClr val="111827"/>
                </a:solidFill>
                <a:latin typeface="Meiryo"/>
              </a:rPr>
              <a:t>→ Circuit OPEN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→ 15分間は送信試行を停止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→ Half-Open で再試行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→ 成功なら Closed に復帰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65760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37160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🐛 修正済みバグ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657600" cy="21488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47472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eiryo"/>
              </a:rPr>
              <a:t>■ 旧版の問題: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Oracle 停止中に DPY-6001 で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プロセスがクラッシュ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→ Docker 再起動の無限ループ</a:t>
            </a:r>
            <a:br/>
            <a:br/>
            <a:r>
              <a:rPr sz="1200" b="0">
                <a:solidFill>
                  <a:srgbClr val="111827"/>
                </a:solidFill>
                <a:latin typeface="Meiryo"/>
              </a:rPr>
              <a:t>■ 修正内容: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open_and_merge() で例外を catch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DPY-6001 → ORA-12514 にマップ</a:t>
            </a:r>
            <a:br/>
            <a:r>
              <a:rPr sz="1200" b="0">
                <a:solidFill>
                  <a:srgbClr val="111827"/>
                </a:solidFill>
                <a:latin typeface="Meiryo"/>
              </a:rPr>
              <a:t>→ サーキットブレーカが正しく作動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206240"/>
            <a:ext cx="11338560" cy="41148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06240"/>
            <a:ext cx="11338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📈 復旧シナリオ例:Oracle が 5 分停止 → 復旧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617720"/>
            <a:ext cx="11338560" cy="178308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111556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Meiryo"/>
              </a:rPr>
              <a:t>12:00:00  ENTER 検知 → inbox に保存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12:00:00  MERGE 試行 → DPY-6001 → merge_failed (retry_count=1)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12:00:05  リトライ (5s後) → 失敗 → retry_count=2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12:00:20  リトライ (15s後) → 失敗 → サーキット OPEN (15分待機)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12:05:00  Oracle 復旧、inbox は 5件 蓄積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12:15:00  サーキット Half-Open → 試行成功 → Closed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12:15:00  inbox 内 5件を一気に flush → 全て merge_committed (rows_affected=1)</a:t>
            </a:r>
            <a:br/>
            <a:r>
              <a:rPr sz="1100" b="0">
                <a:solidFill>
                  <a:srgbClr val="111827"/>
                </a:solidFill>
                <a:latin typeface="Meiryo"/>
              </a:rPr>
              <a:t>        ↓ 同じ event_id が複数試行されても MERGE で重複なし(Exactly-once)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