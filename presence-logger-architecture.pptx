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905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93C6E"/>
                </a:solidFill>
              </a:rPr>
              <a:t>presence-logger  システム構成（k3s 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11612880" cy="5989320"/>
          </a:xfrm>
          <a:prstGeom prst="rect">
            <a:avLst/>
          </a:prstGeom>
          <a:solidFill>
            <a:srgbClr val="EBF5FF"/>
          </a:solidFill>
          <a:ln w="3175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682C8"/>
                </a:solidFill>
              </a:rPr>
              <a:t>Raspberry Pi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8412480" cy="5303520"/>
          </a:xfrm>
          <a:prstGeom prst="rect">
            <a:avLst/>
          </a:prstGeom>
          <a:solidFill>
            <a:srgbClr val="FAFFFA"/>
          </a:solidFill>
          <a:ln w="25400">
            <a:solidFill>
              <a:srgbClr val="3C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CA03C"/>
                </a:solidFill>
              </a:rPr>
              <a:t>k3s クラスター  (Namespace: plogger)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2103120" cy="1280160"/>
          </a:xfrm>
          <a:prstGeom prst="rect">
            <a:avLst/>
          </a:prstGeom>
          <a:solidFill>
            <a:srgbClr val="FFF8DC"/>
          </a:solidFill>
          <a:ln w="19050">
            <a:solidFill>
              <a:srgbClr val="C8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06400"/>
                </a:solidFill>
              </a:rPr>
              <a:t>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6479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E1E1E"/>
                </a:solidFill>
              </a:rPr>
              <a:t>・MediaPipe 推論
・カメラ映像取得
・MQTT publish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2103120" cy="1188720"/>
          </a:xfrm>
          <a:prstGeom prst="rect">
            <a:avLst/>
          </a:prstGeom>
          <a:solidFill>
            <a:srgbClr val="E6F0FF"/>
          </a:solidFill>
          <a:ln w="19050">
            <a:solidFill>
              <a:srgbClr val="3C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443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850B4"/>
                </a:solidFill>
              </a:rPr>
              <a:t>mosquitto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1868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E1E1E"/>
                </a:solidFill>
              </a:rPr>
              <a:t>・MQTT ブローカー
・topic: presence/event
・ClusterIP :1883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463040"/>
            <a:ext cx="2286000" cy="2651760"/>
          </a:xfrm>
          <a:prstGeom prst="rect">
            <a:avLst/>
          </a:prstGeom>
          <a:solidFill>
            <a:srgbClr val="F0FFF0"/>
          </a:solidFill>
          <a:ln w="19050">
            <a:solidFill>
              <a:srgbClr val="28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821E"/>
                </a:solidFill>
              </a:rPr>
              <a:t>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1764792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E1E1E"/>
                </a:solidFill>
              </a:rPr>
              <a:t>・MQTT subscribe
・SSID 判定
  (taden-ot-ap のみ送信)
・SQLite inbox
・HTTP POST /merge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463040"/>
            <a:ext cx="2468880" cy="2651760"/>
          </a:xfrm>
          <a:prstGeom prst="rect">
            <a:avLst/>
          </a:prstGeom>
          <a:solidFill>
            <a:srgbClr val="FFEBEB"/>
          </a:solidFill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4813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41E1E"/>
                </a:solidFill>
              </a:rPr>
              <a:t>oracle-jdbc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1764792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E1E1E"/>
                </a:solidFill>
              </a:rPr>
              <a:t>・Java / ojdbc11
・HTTP /merge
・MERGE INTO HF1RCM01
・ClusterIP :8086
・Exactly-once保証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09160"/>
            <a:ext cx="3749039" cy="914400"/>
          </a:xfrm>
          <a:prstGeom prst="rect">
            <a:avLst/>
          </a:prstGeom>
          <a:solidFill>
            <a:srgbClr val="DCEBFF"/>
          </a:solidFill>
          <a:ln w="19050">
            <a:solidFill>
              <a:srgbClr val="46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274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25AB4"/>
                </a:solidFill>
              </a:rPr>
              <a:t>wlan0（内蔵WiFi）  taden-ot-ap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</a:rPr>
              <a:t>IP: 172.29.1.4/24  ルート: 10.168.252.0/24, 192.168.250.0/24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30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46464"/>
                </a:solidFill>
              </a:rPr>
              <a:t>NTP: 192.168.250.1  →  /etc/systemd/timesyncd.conf.d/factory.conf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4709160"/>
            <a:ext cx="4480560" cy="914400"/>
          </a:xfrm>
          <a:prstGeom prst="rect">
            <a:avLst/>
          </a:prstGeom>
          <a:solidFill>
            <a:srgbClr val="E6FFE6"/>
          </a:solidFill>
          <a:ln w="19050">
            <a:solidFill>
              <a:srgbClr val="28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7274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821E"/>
                </a:solidFill>
              </a:rPr>
              <a:t>wlan1（USB ドングル）  インターネット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983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</a:rPr>
              <a:t>デフォルト経路（Claude・外部通信）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51960"/>
            <a:ext cx="2103120" cy="411480"/>
          </a:xfrm>
          <a:prstGeom prst="rect">
            <a:avLst/>
          </a:prstGeom>
          <a:solidFill>
            <a:srgbClr val="FFFAC8"/>
          </a:solidFill>
          <a:ln w="19050">
            <a:solidFill>
              <a:srgbClr val="B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70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E1E1E"/>
                </a:solidFill>
              </a:rPr>
              <a:t>USBカメラ  /dev/video0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463040"/>
            <a:ext cx="2651760" cy="1463040"/>
          </a:xfrm>
          <a:prstGeom prst="rect">
            <a:avLst/>
          </a:prstGeom>
          <a:solidFill>
            <a:srgbClr val="FFE6C8"/>
          </a:solidFill>
          <a:ln w="31750">
            <a:solidFill>
              <a:srgbClr val="D2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14813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44600"/>
                </a:solidFill>
              </a:rPr>
              <a:t>Oracle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177393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E1E1E"/>
                </a:solidFill>
              </a:rPr>
              <a:t>HHS001
10.168.252.16:1521
テーブル: HF1RCM01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3154680"/>
            <a:ext cx="2651760" cy="822960"/>
          </a:xfrm>
          <a:prstGeom prst="rect">
            <a:avLst/>
          </a:prstGeom>
          <a:solidFill>
            <a:srgbClr val="F0F0FF"/>
          </a:solidFill>
          <a:ln w="19050">
            <a:solidFill>
              <a:srgbClr val="82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3172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E3CB4"/>
                </a:solidFill>
              </a:rPr>
              <a:t>工場 NTP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7152" y="34472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1E1E"/>
                </a:solidFill>
              </a:rPr>
              <a:t>192.168.250.1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737360" y="2743200"/>
            <a:ext cx="0" cy="1508760"/>
          </a:xfrm>
          <a:prstGeom prst="bentConnector3">
            <a:avLst/>
          </a:prstGeom>
          <a:ln w="19050">
            <a:solidFill>
              <a:srgbClr val="A07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37360" y="2743200"/>
            <a:ext cx="0" cy="182880"/>
          </a:xfrm>
          <a:prstGeom prst="bentConnector3">
            <a:avLst/>
          </a:prstGeom>
          <a:ln w="19050">
            <a:solidFill>
              <a:srgbClr val="A07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788920" y="2834640"/>
            <a:ext cx="320040" cy="365760"/>
          </a:xfrm>
          <a:prstGeom prst="bentConnector3">
            <a:avLst/>
          </a:prstGeom>
          <a:ln w="19050">
            <a:solidFill>
              <a:srgbClr val="3C6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94960" y="2286000"/>
            <a:ext cx="365760" cy="0"/>
          </a:xfrm>
          <a:prstGeom prst="bentConnector3">
            <a:avLst/>
          </a:prstGeom>
          <a:ln w="19050">
            <a:solidFill>
              <a:srgbClr val="28A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229600" y="2286000"/>
            <a:ext cx="960120" cy="0"/>
          </a:xfrm>
          <a:prstGeom prst="bentConnector3">
            <a:avLst/>
          </a:prstGeom>
          <a:ln w="19050">
            <a:solidFill>
              <a:srgbClr val="C8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51960" y="3977639"/>
            <a:ext cx="6263640" cy="731521"/>
          </a:xfrm>
          <a:prstGeom prst="bentConnector3">
            <a:avLst/>
          </a:prstGeom>
          <a:ln w="19050">
            <a:solidFill>
              <a:srgbClr val="825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006840" y="4160520"/>
            <a:ext cx="283464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41788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1E1E"/>
                </a:solidFill>
              </a:rPr>
              <a:t>凡例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4348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E1E1E"/>
                </a:solidFill>
              </a:rPr>
              <a:t>→  データフロー（MQTT / HTTP / JDBC）
taden-ot-ap 接続時のみ Oracle に送信
k3s node-ip: 10.42.0.1（固定）
detector はカメラ接続時に起動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